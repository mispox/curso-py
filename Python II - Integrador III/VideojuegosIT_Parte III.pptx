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63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VIDEOJUEGOS IT</a:t>
            </a:r>
            <a:endParaRPr lang="en-US" sz="4400" dirty="0">
              <a:latin typeface="Press Start 2P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700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Proyecto Integrador — Parte III</a:t>
            </a:r>
            <a:endParaRPr lang="en-US" sz="1800" dirty="0">
              <a:latin typeface="Press Start 2P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Interfaz Gráfica con Tkinter + SQLite</a:t>
            </a:r>
            <a:endParaRPr lang="en-US" sz="1400" dirty="0">
              <a:latin typeface="Press Start 2P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0" y="3017520"/>
            <a:ext cx="457200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286000" y="3017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Lucas Mallofré</a:t>
            </a:r>
            <a:endParaRPr lang="en-US" sz="1400" dirty="0">
              <a:solidFill>
                <a:srgbClr val="FF0000"/>
              </a:solidFill>
              <a:latin typeface="Press Start 2P" panose="00000500000000000000" pitchFamily="2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Milagros Loeda</a:t>
            </a:r>
            <a:endParaRPr lang="en-US" sz="1400" dirty="0">
              <a:solidFill>
                <a:srgbClr val="FF0000"/>
              </a:solidFill>
              <a:latin typeface="Press Start 2P" panose="00000500000000000000" pitchFamily="2" charset="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Bertho Berthelot</a:t>
            </a:r>
            <a:endParaRPr lang="en-US" sz="1400" dirty="0">
              <a:solidFill>
                <a:srgbClr val="FF0000"/>
              </a:solidFill>
              <a:latin typeface="Press Start 2P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DD5B7B5-7461-E910-8130-188EC6A0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8920"/>
            <a:ext cx="2125980" cy="212598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F66592A-79F4-9E24-104D-EF14230E4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899" y="2770632"/>
            <a:ext cx="1904446" cy="1805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3600" dirty="0">
              <a:latin typeface="Press Start 2P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hace la Parte III?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Reemplaza la consola por una interfaz gráfica (GUI) con Tkinter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Mantiene toda la lógica de ventas, turnos y base de datos de la Parte II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291693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Organiza el código en una clase (SistemaCaja) para que sea más ordenado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3575304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Agrega visuales: pantalla, botones con colores, ventanas secundarias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3367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" y="423367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 extras opcionales: historial de ventas y total vendido acumulado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ESTRUCTURA DEL CÓDIGO</a:t>
            </a:r>
            <a:endParaRPr lang="en-US" sz="2800" dirty="0">
              <a:latin typeface="Press Start 2P" panose="000005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117957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conectar_db()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91840" y="11795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Crea/abre comercio.sqlite y genera las tablas venta y registro si no existen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9293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SistemaCaja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9293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Clase principal. Contiene todos los métodos del sistema organizados en un solo lugar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6791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 la ventana, conecta la BD, pide el encargado y arma el menú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9242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pedir_encargado()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429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Muestra un diálogo para ingresar el nombre. Valida que no sea vacío ni solo números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4223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 entrada/salida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41788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Insertan filas IN u OUT en la tabla registro. Igual que en la Parte II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MENÚ PRINCIPAL</a:t>
            </a:r>
            <a:endParaRPr lang="en-US" sz="2800" dirty="0">
              <a:latin typeface="Press Start 2P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armar_menu()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Limpia la ventana con winfo_children()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Redibuja título, encargado y caja del turno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Crea los 4 botones del menú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SALIR va en rojo para distinguirse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Se vuelve a llamar después de un cambio de turno para refrescar la pantalla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0584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11111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VIDEOJUEGOS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Encargad@: MILO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Caja del turno: $0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224028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39496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 PEDIDO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2807208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394960" y="28072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HISTORIAL DE VENTAS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3374136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394960" y="33741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 DE TURNO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94960" y="397764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FF3333"/>
          </a:solidFill>
          <a:ln w="1270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39496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NUEVO PEDIDO</a:t>
            </a:r>
            <a:endParaRPr lang="en-US" sz="2800" dirty="0">
              <a:latin typeface="Press Start 2P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nuevo_pedido()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Abre una ventana secundaria (Toplevel)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Los productos se crean con un loop — más limpio y fácil de modificar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calcular() lee los campos y muestra el total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confirmar() valida, calcula vuelto y guarda en la tabla venta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Si el pago no alcanza, muestra error sin cerrar la ventana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Al confirmar, actualiza la caja del turno en el menú principal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005840"/>
            <a:ext cx="3657600" cy="3749040"/>
          </a:xfrm>
          <a:prstGeom prst="roundRect">
            <a:avLst>
              <a:gd name="adj" fmla="val 2500"/>
            </a:avLst>
          </a:prstGeom>
          <a:solidFill>
            <a:srgbClr val="11111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NUEVO PEDIDO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508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del cliente: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709928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1A1A1A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120640" y="19110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Juego básico ($15):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20640" y="2112264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1A1A1A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120640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Juego premium ($25):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0640" y="2514600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1A1A1A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5120640" y="27157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DLC ($5):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2916936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1A1A1A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120640" y="3118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Pase temporada ($10):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3319272"/>
            <a:ext cx="3474720" cy="201168"/>
          </a:xfrm>
          <a:prstGeom prst="roundRect">
            <a:avLst>
              <a:gd name="adj" fmla="val 13636"/>
            </a:avLst>
          </a:prstGeom>
          <a:solidFill>
            <a:srgbClr val="1A1A1A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$0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0" y="39776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00FF41"/>
          </a:solidFill>
          <a:ln w="1270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21208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49440" y="3977640"/>
            <a:ext cx="1554480" cy="320040"/>
          </a:xfrm>
          <a:prstGeom prst="roundRect">
            <a:avLst>
              <a:gd name="adj" fmla="val 11429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94944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0D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RESTO DE FUNCIONES</a:t>
            </a:r>
            <a:endParaRPr lang="en-US" sz="3600" dirty="0">
              <a:latin typeface="Press Start 2P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ver_historial()  — EXTRA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Abre una ventana con todas las ventas de la BD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Muestra el total acumulado con SUM(total)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Usa widget Text con Scrollbar para poder scrollear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El texto queda en modo solo lectura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535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cambio_turno()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Registra OUT del encargado actual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39312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" y="36393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Pide el nombre del nuevo encargado y registra su 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782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salir()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398264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40080" y="439826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Registra OUT, cierra conn.close() y destruye la ventana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64024"/>
            <a:ext cx="8229600" cy="329184"/>
          </a:xfrm>
          <a:prstGeom prst="roundRect">
            <a:avLst>
              <a:gd name="adj" fmla="val 13889"/>
            </a:avLst>
          </a:prstGeom>
          <a:solidFill>
            <a:srgbClr val="1A1A1A"/>
          </a:solidFill>
          <a:ln w="6350">
            <a:solidFill>
              <a:srgbClr val="FF33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40080" y="476402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También se llama con la X de Windows via WM_DELETE_WINDOW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FF41"/>
                </a:solidFill>
                <a:latin typeface="Press Start 2P" panose="00000500000000000000" pitchFamily="2" charset="0"/>
                <a:ea typeface="Courier New" pitchFamily="34" charset="-122"/>
                <a:cs typeface="Courier New" pitchFamily="34" charset="-120"/>
              </a:rPr>
              <a:t>BASE DE DATOS</a:t>
            </a:r>
            <a:endParaRPr lang="en-US" sz="3600" dirty="0">
              <a:latin typeface="Press Start 2P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comercio.sqlite — mismas tablas que la Parte 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Tabla: venta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122325"/>
              </p:ext>
            </p:extLst>
          </p:nvPr>
        </p:nvGraphicFramePr>
        <p:xfrm>
          <a:off x="202474" y="1783080"/>
          <a:ext cx="4369528" cy="36576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61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61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3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9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fecha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ComboS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ComboD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ComboT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Flur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Tabla: registro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899813"/>
              </p:ext>
            </p:extLst>
          </p:nvPr>
        </p:nvGraphicFramePr>
        <p:xfrm>
          <a:off x="4846320" y="1783080"/>
          <a:ext cx="3840480" cy="228600"/>
        </p:xfrm>
        <a:graphic>
          <a:graphicData uri="http://schemas.openxmlformats.org/drawingml/2006/table">
            <a:tbl>
              <a:tblPr/>
              <a:tblGrid>
                <a:gridCol w="768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encargado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fecha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evento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caja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Puntos clave: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57200" y="3017520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6"/>
          <p:cNvSpPr/>
          <p:nvPr/>
        </p:nvSpPr>
        <p:spPr>
          <a:xfrm>
            <a:off x="640080" y="3017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La conexión se abre al iniciar con conectar_db() y se cierra al salir con conn.close()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3493008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640080" y="34930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Se usa cursor.execute() con parámetros (?) para evitar errores e inyecciones SQL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968496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0"/>
          <p:cNvSpPr/>
          <p:nvPr/>
        </p:nvSpPr>
        <p:spPr>
          <a:xfrm>
            <a:off x="640080" y="39684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conn.commit() guarda los cambios en el archivo después de cada INSERT</a:t>
            </a:r>
            <a:endParaRPr lang="en-US" sz="1100" dirty="0"/>
          </a:p>
        </p:txBody>
      </p:sp>
      <p:sp>
        <p:nvSpPr>
          <p:cNvPr id="7" name="Shape 11"/>
          <p:cNvSpPr/>
          <p:nvPr/>
        </p:nvSpPr>
        <p:spPr>
          <a:xfrm>
            <a:off x="457200" y="4443984"/>
            <a:ext cx="8229600" cy="384048"/>
          </a:xfrm>
          <a:prstGeom prst="roundRect">
            <a:avLst>
              <a:gd name="adj" fmla="val 11905"/>
            </a:avLst>
          </a:prstGeom>
          <a:solidFill>
            <a:srgbClr val="1A1A1A"/>
          </a:solidFill>
          <a:ln w="6350">
            <a:solidFill>
              <a:srgbClr val="00FF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640080" y="4443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La consulta SUM(total) en el historial calcula el total acumulado de todas las ventas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582</Words>
  <Application>Microsoft Office PowerPoint</Application>
  <PresentationFormat>Presentación en pantalla (16:9)</PresentationFormat>
  <Paragraphs>97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Courier New</vt:lpstr>
      <vt:lpstr>Press Start 2P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Videojuegos IT - Proyecto Integrador Parte III</dc:title>
  <dc:subject>PptxGenJS Presentation</dc:subject>
  <dc:creator>PptxGenJS</dc:creator>
  <cp:lastModifiedBy>Milagros Loeda</cp:lastModifiedBy>
  <cp:revision>2</cp:revision>
  <dcterms:created xsi:type="dcterms:W3CDTF">2026-06-20T23:37:05Z</dcterms:created>
  <dcterms:modified xsi:type="dcterms:W3CDTF">2026-06-20T23:57:03Z</dcterms:modified>
</cp:coreProperties>
</file>